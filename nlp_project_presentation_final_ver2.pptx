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4" r:id="rId9"/>
    <p:sldId id="266" r:id="rId10"/>
    <p:sldId id="26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3C908-BE17-458E-8702-8F694E2EF5B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0D02-32BA-4606-9158-F55E55A0D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5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0D02-32BA-4606-9158-F55E55A0DC8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720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82FB-3DCB-230E-CC08-639242E8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0C5B9-3CE0-ADFD-21AB-98244E260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C1E66-6B4A-E654-F5FE-91B2D53E0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663F9-3CD2-3ED3-29FE-226537EE0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0D02-32BA-4606-9158-F55E55A0DC8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02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DEE85-F1C2-1F1E-A6F7-B0D40D51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B72F8-A2EE-B947-BBC5-F6B45570B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2AEED-735E-7BE1-98C9-3BBD610FA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34040-F45E-16D2-5B2E-3CE08196D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0D02-32BA-4606-9158-F55E55A0DC8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586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21EB5-AA37-CF1A-ADAE-7D92BD6F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08A47-BBD4-C458-5E93-5826C4A30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41344-78CC-AFD9-FD48-233FFE66E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EDFA7-CDC8-D42D-41FF-9FE27F014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0D02-32BA-4606-9158-F55E55A0DC8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9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94573-5CF8-47CB-B483-C88DB448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DC255-EFD9-A5FE-F669-0CDA3D22A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06CCF-EE58-3197-FC4E-1CC9E82A7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3FED7-2C79-78A1-9A20-08AD06B7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0D02-32BA-4606-9158-F55E55A0DC8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57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C466-0247-CC10-B721-DDBECCAB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BC2C5-CBA4-C446-90C4-9FE31875E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226AD-F516-4D54-EFC2-30F4F8336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C4D13-2F8A-77DF-620D-C7AF6E0D3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0D02-32BA-4606-9158-F55E55A0DC8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437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F31A-2F73-B001-1BD2-594A877D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3326A-A34C-6041-A73B-9B8F3CCDC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080E6-12C7-ECDA-0906-51D29A076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8E29-222A-B6DE-BB35-B1F3AB2E0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0D02-32BA-4606-9158-F55E55A0DC8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719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EC60-77BF-E8D4-FB8E-A7177865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51FE4-F313-9F99-EA2E-3A4C51714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8AB3C-F160-E1DE-1CEA-74DCD854A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660F8-721B-AF90-99D2-AB47C2A6D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0D02-32BA-4606-9158-F55E55A0DC8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618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3B17-5029-0E42-08DF-BE172628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59EE6-A396-7641-4509-1F2E4EB5F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58308-7141-72A4-C14D-EFF45D2F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AB696-EFF3-2176-02D4-6D189772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6183E-9EE2-C675-C790-E723640A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19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9A775-6F9F-BC98-634E-F24D467E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70F82-C2D4-2AA2-4409-618F46C52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17FF9-D430-E76D-525F-99ABBBED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A9BF8-D845-1599-EEB5-E7C7DF54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B8773-1B27-E937-F771-089E9BCA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94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96584-56D4-4B21-9938-B76361DE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3B3D3-19D1-2066-A26F-71A56A59F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25D91-D719-B59E-0213-8862E9E66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61B3-F1C7-6FA0-9243-05CED1517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E101F-8CA9-16BD-49B0-F83F26CD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9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36E0-FFE0-54BB-5A70-B03057E7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EC89D-D8A7-DB7E-0B7F-A59999438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72743-D160-8E4D-B54F-E2ECD747C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C2003-115C-36C0-BE46-C40A2A01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BB4E0-3AAD-C0B3-537A-934A22F6B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B178C-544C-8C84-0879-F5E7DE6E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11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88AD-444C-4755-AF9E-23BAD56B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BD6D8-75BC-EB5B-4CD4-7A993EC32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AFABB-2C69-F32F-2DAE-0DC70CE4A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DBDAC-51A6-4BB3-DB31-6F36C8327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EEF5F-EB0E-55A8-0CC3-03A813BF6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C3E982-FAE8-1493-D8BF-CC20C9B6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91433D-D4D8-423D-C98E-2E6466C9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1A9D12-0151-3970-8242-6DEA8F7B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205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6F6E-22D2-1BCE-6487-573EAA552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53BC9-89CA-8EA6-850D-226073CD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12E99-6557-CB50-2FA7-6E2E7696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9A5A9-C007-CA80-93C9-0C2C6DBE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77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32B661-23AF-9001-36D0-24EC1D5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79CA7F-10D4-8863-F8DE-EB6C3CB7E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FA7FC-F133-5FB6-2609-683131C8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648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A77E3-DDD3-573A-3516-000D42DB5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D2FE-FD53-949D-834E-8D06846D1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178AA-C84B-4508-EEB7-08DFADC8F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2C87D-4332-9EF1-4DDE-4AB6C234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68C45-2EB4-E231-AACA-0083522F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12D9F-3CDD-6EFC-1F00-40230A82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61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32C6-D2E4-DB18-A791-112322D36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D05DD-39C9-F09D-F091-94D861815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DEFE8-0137-C5C0-9F9F-D83F00753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6737D-42E7-E5B1-768C-A2FC1488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E4C33-3661-F1F5-814F-9DB295FF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BC188-F1C4-BC96-1928-B92B3C30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3BF0-9F38-9572-BC3A-0025C729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6BFA9-1E68-5AEE-2B03-66B6BFD4F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B011E-C2B2-81EA-6D15-DFF2861D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FB65-6C1B-4263-E10F-420B7EE8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AD25C-6D8F-54AE-9B24-2F40FE3A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369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824C5-5734-F19F-0465-6005E1AFB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23A24-0EAB-C7F6-8B53-FB6197774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864F4-505E-2983-7C33-1755D2E1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20A81-55B0-6A3A-F887-0A9AD184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5E893-930B-B899-E6CE-9252EAB7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1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0D3F1-C372-348A-73F7-8C7862EE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4BC9D-F41C-F79F-17F5-BA0F6BBD0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1CB1F-6056-2D39-4468-E2BAD8F0D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15E1B-7160-4905-B5EA-0439EE0EFA7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79EB3-819C-1B57-DE67-1D4C2858F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7256B-2D1C-1311-A61B-97A87235A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9FB00-0F3D-4EF1-8C17-4EFBDC6EA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442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0D18A9-B4B6-24DB-8D4A-879B912B41F5}"/>
              </a:ext>
            </a:extLst>
          </p:cNvPr>
          <p:cNvSpPr txBox="1"/>
          <p:nvPr/>
        </p:nvSpPr>
        <p:spPr>
          <a:xfrm>
            <a:off x="717754" y="1172185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LLM Behavior Analysis + Responsible AI Evaluation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DB5BA5-EB71-19ED-42A1-72964EB1A247}"/>
              </a:ext>
            </a:extLst>
          </p:cNvPr>
          <p:cNvCxnSpPr/>
          <p:nvPr/>
        </p:nvCxnSpPr>
        <p:spPr>
          <a:xfrm>
            <a:off x="624347" y="1986117"/>
            <a:ext cx="1094330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913BA6-8F93-1268-7708-D5251B2F8686}"/>
              </a:ext>
            </a:extLst>
          </p:cNvPr>
          <p:cNvSpPr txBox="1"/>
          <p:nvPr/>
        </p:nvSpPr>
        <p:spPr>
          <a:xfrm>
            <a:off x="2426663" y="2411417"/>
            <a:ext cx="21870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PNVSS Sai Aditya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(23WU0102147)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5B764-4163-B6A8-3C3F-B1E748CDB60B}"/>
              </a:ext>
            </a:extLst>
          </p:cNvPr>
          <p:cNvSpPr txBox="1"/>
          <p:nvPr/>
        </p:nvSpPr>
        <p:spPr>
          <a:xfrm>
            <a:off x="5120912" y="2411417"/>
            <a:ext cx="20017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Pothuri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Indraneel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(23WU0102154)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DBAD3-9589-49FA-5ACA-6A7BB511B11D}"/>
              </a:ext>
            </a:extLst>
          </p:cNvPr>
          <p:cNvSpPr txBox="1"/>
          <p:nvPr/>
        </p:nvSpPr>
        <p:spPr>
          <a:xfrm>
            <a:off x="7839462" y="2411417"/>
            <a:ext cx="23599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Pratheek Chowdhary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(23WU0102155)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18B67-768E-6683-CA78-AD857148840A}"/>
              </a:ext>
            </a:extLst>
          </p:cNvPr>
          <p:cNvSpPr txBox="1"/>
          <p:nvPr/>
        </p:nvSpPr>
        <p:spPr>
          <a:xfrm>
            <a:off x="3681742" y="3812478"/>
            <a:ext cx="2387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 S Rajanampalle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(23WU0102156)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EF350F-E8B7-B258-049B-9C6AE1ABCF99}"/>
              </a:ext>
            </a:extLst>
          </p:cNvPr>
          <p:cNvSpPr txBox="1"/>
          <p:nvPr/>
        </p:nvSpPr>
        <p:spPr>
          <a:xfrm>
            <a:off x="6063650" y="3812478"/>
            <a:ext cx="32326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Raghavendra Praneet Veeturi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(23WU0102161)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31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12A829-0A8D-D1C2-2DFA-2470AC9310E9}"/>
              </a:ext>
            </a:extLst>
          </p:cNvPr>
          <p:cNvSpPr txBox="1"/>
          <p:nvPr/>
        </p:nvSpPr>
        <p:spPr>
          <a:xfrm>
            <a:off x="-108154" y="229405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 Statement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43594-5FD6-FAFA-C8F4-3C4944D1964C}"/>
              </a:ext>
            </a:extLst>
          </p:cNvPr>
          <p:cNvSpPr txBox="1"/>
          <p:nvPr/>
        </p:nvSpPr>
        <p:spPr>
          <a:xfrm>
            <a:off x="899889" y="1050154"/>
            <a:ext cx="5053306" cy="511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questions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 questions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ambiguous questions/prompts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dilemmas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to evaluate </a:t>
            </a: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models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terms of: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hallucination rate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bias rate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context rate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safety constraints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641975-3A81-23CD-CFD0-F53E0AAF57BA}"/>
              </a:ext>
            </a:extLst>
          </p:cNvPr>
          <p:cNvSpPr txBox="1"/>
          <p:nvPr/>
        </p:nvSpPr>
        <p:spPr>
          <a:xfrm>
            <a:off x="6877904" y="1050154"/>
            <a:ext cx="6096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we are focusing on </a:t>
            </a:r>
            <a:r>
              <a:rPr lang="en-US" sz="1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models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GPT2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FLAN – T5 – LARGE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FLAN – T5 – SMALL 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64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6F5E7-C90F-B224-FD6C-FF30611A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6F15E5-39B3-16CF-52BF-E946E214A24A}"/>
              </a:ext>
            </a:extLst>
          </p:cNvPr>
          <p:cNvSpPr txBox="1"/>
          <p:nvPr/>
        </p:nvSpPr>
        <p:spPr>
          <a:xfrm>
            <a:off x="-137651" y="212924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kind of problem are we looking at? 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0C3C0-1549-8487-8E3C-C244D0A1C619}"/>
              </a:ext>
            </a:extLst>
          </p:cNvPr>
          <p:cNvSpPr txBox="1"/>
          <p:nvPr/>
        </p:nvSpPr>
        <p:spPr>
          <a:xfrm>
            <a:off x="648930" y="1094704"/>
            <a:ext cx="2605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9233DE-8BCA-122D-E83D-E32AAD73890E}"/>
              </a:ext>
            </a:extLst>
          </p:cNvPr>
          <p:cNvSpPr txBox="1"/>
          <p:nvPr/>
        </p:nvSpPr>
        <p:spPr>
          <a:xfrm>
            <a:off x="1012723" y="1593983"/>
            <a:ext cx="3696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capital of France?</a:t>
            </a:r>
            <a:endParaRPr lang="en-IN" sz="20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8B152-75D9-7AB0-A08F-D3FD1396EC10}"/>
              </a:ext>
            </a:extLst>
          </p:cNvPr>
          <p:cNvSpPr txBox="1"/>
          <p:nvPr/>
        </p:nvSpPr>
        <p:spPr>
          <a:xfrm>
            <a:off x="1012723" y="2055697"/>
            <a:ext cx="35691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directed Pulp Fiction? </a:t>
            </a:r>
            <a:endParaRPr lang="en-IN" sz="20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61DCEB-7A56-962A-0854-30CBFB87F8C9}"/>
              </a:ext>
            </a:extLst>
          </p:cNvPr>
          <p:cNvSpPr txBox="1"/>
          <p:nvPr/>
        </p:nvSpPr>
        <p:spPr>
          <a:xfrm>
            <a:off x="717757" y="2772972"/>
            <a:ext cx="31463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 questions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0529D7-8FFA-0E22-6E6B-D76C47EF1914}"/>
              </a:ext>
            </a:extLst>
          </p:cNvPr>
          <p:cNvSpPr txBox="1"/>
          <p:nvPr/>
        </p:nvSpPr>
        <p:spPr>
          <a:xfrm>
            <a:off x="1012723" y="3272251"/>
            <a:ext cx="4562167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train travels 60 km in 1 hour, how far will it travel in 3.5 hours?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might a company lower prices even if it reduces short-term profit?</a:t>
            </a: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CBE664-CF81-988D-CE1B-624464A08FA6}"/>
              </a:ext>
            </a:extLst>
          </p:cNvPr>
          <p:cNvSpPr txBox="1"/>
          <p:nvPr/>
        </p:nvSpPr>
        <p:spPr>
          <a:xfrm>
            <a:off x="7069394" y="1118088"/>
            <a:ext cx="3932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Ambiguous questions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030F29-DDA8-ACA2-D972-A61B96F70CC5}"/>
              </a:ext>
            </a:extLst>
          </p:cNvPr>
          <p:cNvSpPr txBox="1"/>
          <p:nvPr/>
        </p:nvSpPr>
        <p:spPr>
          <a:xfrm>
            <a:off x="7315199" y="1438144"/>
            <a:ext cx="3932904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movie good?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that the right decision?</a:t>
            </a:r>
            <a:endParaRPr lang="en-IN" sz="2000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3C1CC-8F49-9487-28FF-B81771F1A9EF}"/>
              </a:ext>
            </a:extLst>
          </p:cNvPr>
          <p:cNvSpPr txBox="1"/>
          <p:nvPr/>
        </p:nvSpPr>
        <p:spPr>
          <a:xfrm>
            <a:off x="7079226" y="2697187"/>
            <a:ext cx="3932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84412-D285-6362-1FBE-81887DE0A4CB}"/>
              </a:ext>
            </a:extLst>
          </p:cNvPr>
          <p:cNvSpPr txBox="1"/>
          <p:nvPr/>
        </p:nvSpPr>
        <p:spPr>
          <a:xfrm>
            <a:off x="7315198" y="3272251"/>
            <a:ext cx="3932904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companies use AI to replace human workers?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it acceptable to use animals for scientific testing?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019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2E47-287A-CF51-35BA-44C5CB0E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3F8A96-15D4-41F9-3FC8-CAA1813C6358}"/>
              </a:ext>
            </a:extLst>
          </p:cNvPr>
          <p:cNvSpPr txBox="1"/>
          <p:nvPr/>
        </p:nvSpPr>
        <p:spPr>
          <a:xfrm>
            <a:off x="-137651" y="212924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GPT - 2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8339AA1-8DC4-0B73-5FBF-11D7501EDB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671052"/>
            <a:ext cx="4252452" cy="425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D2FA4A-786A-281C-D20D-8F7DE2A81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6" r="15553"/>
          <a:stretch>
            <a:fillRect/>
          </a:stretch>
        </p:blipFill>
        <p:spPr>
          <a:xfrm>
            <a:off x="6792000" y="0"/>
            <a:ext cx="5400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970DD0-41C5-4580-EA69-94FAC7D1F330}"/>
              </a:ext>
            </a:extLst>
          </p:cNvPr>
          <p:cNvSpPr txBox="1"/>
          <p:nvPr/>
        </p:nvSpPr>
        <p:spPr>
          <a:xfrm>
            <a:off x="176979" y="1111045"/>
            <a:ext cx="6341807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GPT-2 is a large, decoder-only Transformer language model that is trained using unsupervised learning on a massive corpus of internet text to predict the next word in a sequence.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The </a:t>
            </a:r>
            <a:r>
              <a:rPr lang="en-IN" b="1" dirty="0">
                <a:solidFill>
                  <a:schemeClr val="bg1"/>
                </a:solidFill>
              </a:rPr>
              <a:t>GPT-2 model</a:t>
            </a:r>
            <a:r>
              <a:rPr lang="en-IN" dirty="0">
                <a:solidFill>
                  <a:schemeClr val="bg1"/>
                </a:solidFill>
              </a:rPr>
              <a:t> is a unidirectional Transformer that </a:t>
            </a:r>
            <a:r>
              <a:rPr lang="en-US" dirty="0">
                <a:solidFill>
                  <a:schemeClr val="bg1"/>
                </a:solidFill>
              </a:rPr>
              <a:t>generates text autoregressively based solely on previously generated tokens.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GPT-2 consists of: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Token Embedding Layer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Positional Encoding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Stack of Transformer Decoder Blocks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Final Linear + </a:t>
            </a:r>
            <a:r>
              <a:rPr lang="en-US" dirty="0" err="1">
                <a:solidFill>
                  <a:schemeClr val="bg1"/>
                </a:solidFill>
              </a:rPr>
              <a:t>Softmax</a:t>
            </a:r>
            <a:r>
              <a:rPr lang="en-US" dirty="0">
                <a:solidFill>
                  <a:schemeClr val="bg1"/>
                </a:solidFill>
              </a:rPr>
              <a:t> Layer</a:t>
            </a:r>
          </a:p>
        </p:txBody>
      </p:sp>
    </p:spTree>
    <p:extLst>
      <p:ext uri="{BB962C8B-B14F-4D97-AF65-F5344CB8AC3E}">
        <p14:creationId xmlns:p14="http://schemas.microsoft.com/office/powerpoint/2010/main" val="3609373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FLAN-T5 variants with their parameters and memory usage">
            <a:extLst>
              <a:ext uri="{FF2B5EF4-FFF2-40B4-BE49-F238E27FC236}">
                <a16:creationId xmlns:a16="http://schemas.microsoft.com/office/drawing/2014/main" id="{8E8B4D87-A25C-9FF0-A934-CC7AF70E5B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77613" cy="277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17E92A-3A4A-18B2-03E2-25AA1BE91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32" y="1132386"/>
            <a:ext cx="4786313" cy="298608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A2A718B-E73C-0FF6-FC7B-332D7EC0B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1132386"/>
            <a:ext cx="5042258" cy="301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B1B2F8-14BF-72DE-1E10-F1599ED03395}"/>
              </a:ext>
            </a:extLst>
          </p:cNvPr>
          <p:cNvSpPr txBox="1"/>
          <p:nvPr/>
        </p:nvSpPr>
        <p:spPr>
          <a:xfrm>
            <a:off x="390832" y="4453161"/>
            <a:ext cx="102280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FLAN-T5 is an instruction-tuned version of the T5 encoder–decoder Transformer model that is trained on diverse natural language instructions to improve zero-shot and few-shot performance.</a:t>
            </a:r>
          </a:p>
          <a:p>
            <a:endParaRPr lang="en-US" b="0" i="0" dirty="0">
              <a:solidFill>
                <a:schemeClr val="bg1"/>
              </a:solidFill>
              <a:effectLst/>
              <a:latin typeface="ui-sans-serif"/>
            </a:endParaRPr>
          </a:p>
          <a:p>
            <a:endParaRPr lang="en-US" dirty="0">
              <a:solidFill>
                <a:schemeClr val="bg1"/>
              </a:solidFill>
              <a:latin typeface="ui-sans-serif"/>
            </a:endParaRP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ui-sans-serif"/>
              </a:rPr>
              <a:t>FLAN-T5 model is a encoder-decoder model that has been pre-trained on a multi-task mixture of unsupervised and supervised tasks and for which each task is converted into a text-to-text format.</a:t>
            </a:r>
          </a:p>
          <a:p>
            <a:endParaRPr lang="en-US" dirty="0">
              <a:solidFill>
                <a:schemeClr val="bg1"/>
              </a:solidFill>
              <a:latin typeface="ui-sans-serif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A4B4F-EC1B-9322-1C89-0859580A6555}"/>
              </a:ext>
            </a:extLst>
          </p:cNvPr>
          <p:cNvSpPr txBox="1"/>
          <p:nvPr/>
        </p:nvSpPr>
        <p:spPr>
          <a:xfrm>
            <a:off x="-137651" y="212924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FLAN – T5 – Small/Large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80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C8D6-C1B2-6C50-9D22-ED92BD5B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99C61E-E49D-57BA-5EE3-14A848F2B1F7}"/>
              </a:ext>
            </a:extLst>
          </p:cNvPr>
          <p:cNvSpPr txBox="1"/>
          <p:nvPr/>
        </p:nvSpPr>
        <p:spPr>
          <a:xfrm>
            <a:off x="-137651" y="212924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FLAN – T5 – Small/Large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5FEDACA0-9CC9-F594-3997-1BC255A1E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424" y="1253333"/>
            <a:ext cx="9623151" cy="435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5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29413-B6A9-7991-F29D-0400094E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1FD84D-0B37-7E45-9059-38E266554371}"/>
              </a:ext>
            </a:extLst>
          </p:cNvPr>
          <p:cNvSpPr txBox="1"/>
          <p:nvPr/>
        </p:nvSpPr>
        <p:spPr>
          <a:xfrm>
            <a:off x="-314632" y="71837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Methodology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B748C4-113F-70F3-FE9A-8B01DE603820}"/>
              </a:ext>
            </a:extLst>
          </p:cNvPr>
          <p:cNvSpPr/>
          <p:nvPr/>
        </p:nvSpPr>
        <p:spPr>
          <a:xfrm>
            <a:off x="2113936" y="875070"/>
            <a:ext cx="1229033" cy="776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Factual Questions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D50B7D-FB9F-C25A-28EA-78EE687EB856}"/>
              </a:ext>
            </a:extLst>
          </p:cNvPr>
          <p:cNvSpPr/>
          <p:nvPr/>
        </p:nvSpPr>
        <p:spPr>
          <a:xfrm>
            <a:off x="4144298" y="875070"/>
            <a:ext cx="1302774" cy="776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Reasoning Questions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DFA0A-A464-8058-D53E-97FDC584C9EC}"/>
              </a:ext>
            </a:extLst>
          </p:cNvPr>
          <p:cNvSpPr/>
          <p:nvPr/>
        </p:nvSpPr>
        <p:spPr>
          <a:xfrm>
            <a:off x="6248401" y="875069"/>
            <a:ext cx="1302774" cy="776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Ambiguous Questions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93018F-CC88-EED3-B50E-47EE3B91A86C}"/>
              </a:ext>
            </a:extLst>
          </p:cNvPr>
          <p:cNvSpPr/>
          <p:nvPr/>
        </p:nvSpPr>
        <p:spPr>
          <a:xfrm>
            <a:off x="8352504" y="875069"/>
            <a:ext cx="1302774" cy="776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Ethics Questions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D219E-A72E-144A-686D-86FD266E83B4}"/>
              </a:ext>
            </a:extLst>
          </p:cNvPr>
          <p:cNvSpPr txBox="1"/>
          <p:nvPr/>
        </p:nvSpPr>
        <p:spPr>
          <a:xfrm>
            <a:off x="1890259" y="1847190"/>
            <a:ext cx="1755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SQUAD V2 with 130k samples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8032F-D630-C79B-5FBF-E3D0F91E42F2}"/>
              </a:ext>
            </a:extLst>
          </p:cNvPr>
          <p:cNvSpPr txBox="1"/>
          <p:nvPr/>
        </p:nvSpPr>
        <p:spPr>
          <a:xfrm>
            <a:off x="4268651" y="1772346"/>
            <a:ext cx="1171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GSM8K OPENAI 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95D67-22E0-CDB0-741C-09B163D10ED9}"/>
              </a:ext>
            </a:extLst>
          </p:cNvPr>
          <p:cNvSpPr txBox="1"/>
          <p:nvPr/>
        </p:nvSpPr>
        <p:spPr>
          <a:xfrm>
            <a:off x="8268929" y="1870275"/>
            <a:ext cx="18730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hendrycks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/ethics from </a:t>
            </a:r>
            <a:r>
              <a:rPr lang="en-IN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8BB36-7886-E93B-A15C-4C34A9C281FA}"/>
              </a:ext>
            </a:extLst>
          </p:cNvPr>
          <p:cNvSpPr txBox="1"/>
          <p:nvPr/>
        </p:nvSpPr>
        <p:spPr>
          <a:xfrm>
            <a:off x="6376220" y="1824108"/>
            <a:ext cx="1047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AmbiNQ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(8k)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3CF7F-0DF6-F614-E181-75556FE8EF78}"/>
              </a:ext>
            </a:extLst>
          </p:cNvPr>
          <p:cNvSpPr txBox="1"/>
          <p:nvPr/>
        </p:nvSpPr>
        <p:spPr>
          <a:xfrm>
            <a:off x="507233" y="2008774"/>
            <a:ext cx="905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4540F0-BF3B-AC80-10F8-5E8D12CBD1D7}"/>
              </a:ext>
            </a:extLst>
          </p:cNvPr>
          <p:cNvSpPr txBox="1"/>
          <p:nvPr/>
        </p:nvSpPr>
        <p:spPr>
          <a:xfrm>
            <a:off x="4639233" y="3600505"/>
            <a:ext cx="2260555" cy="46166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benchmarks.json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9F1B24B-D908-929F-919A-E8A0F163BC7E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rot="16200000" flipH="1">
            <a:off x="3853657" y="1684650"/>
            <a:ext cx="829985" cy="30017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2346EAA-B390-33F0-CD0B-176DC52A4349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rot="16200000" flipH="1">
            <a:off x="4859429" y="2690422"/>
            <a:ext cx="904829" cy="9153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DA2FBDF-D87E-58FE-00A7-1F9D179AB97F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rot="5400000">
            <a:off x="5769617" y="2470334"/>
            <a:ext cx="1130066" cy="11302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61341F2-D3C2-97D2-6664-A41560DD8E21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rot="5400000">
            <a:off x="6945533" y="1340584"/>
            <a:ext cx="1083899" cy="34359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F8EAD29-85E2-E31C-7EB3-64A875A9D684}"/>
              </a:ext>
            </a:extLst>
          </p:cNvPr>
          <p:cNvSpPr txBox="1"/>
          <p:nvPr/>
        </p:nvSpPr>
        <p:spPr>
          <a:xfrm>
            <a:off x="3251227" y="3768252"/>
            <a:ext cx="6630192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unique_string_identifier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question"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"text prompt shown to the LLM",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["list", "of", "valid", "ground-truth", "answers"],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"factual | reasoning | ambiguous | ethics",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dataset_name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5045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ECCD-ED46-F5B5-4B7B-8454BED2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F5E77-DD58-F849-85A1-9EE7C175D7FB}"/>
              </a:ext>
            </a:extLst>
          </p:cNvPr>
          <p:cNvSpPr txBox="1"/>
          <p:nvPr/>
        </p:nvSpPr>
        <p:spPr>
          <a:xfrm>
            <a:off x="-314632" y="71837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Methodology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C457A-716D-4DFC-E30B-CE79ECFFEDE9}"/>
              </a:ext>
            </a:extLst>
          </p:cNvPr>
          <p:cNvSpPr txBox="1"/>
          <p:nvPr/>
        </p:nvSpPr>
        <p:spPr>
          <a:xfrm>
            <a:off x="5063613" y="425779"/>
            <a:ext cx="1742785" cy="36933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benchmarks.json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3C512-EC74-9DDE-87F0-B5FA729FF215}"/>
              </a:ext>
            </a:extLst>
          </p:cNvPr>
          <p:cNvSpPr/>
          <p:nvPr/>
        </p:nvSpPr>
        <p:spPr>
          <a:xfrm>
            <a:off x="3381056" y="1152391"/>
            <a:ext cx="94022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GPT 2</a:t>
            </a:r>
            <a:endParaRPr lang="en-I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5C883-B63C-76EA-0E1F-848700CD9E8A}"/>
              </a:ext>
            </a:extLst>
          </p:cNvPr>
          <p:cNvSpPr/>
          <p:nvPr/>
        </p:nvSpPr>
        <p:spPr>
          <a:xfrm>
            <a:off x="5451552" y="1149053"/>
            <a:ext cx="953564" cy="635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FLAN T5 Small</a:t>
            </a:r>
            <a:endParaRPr lang="en-I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2B06D-7D31-9672-C0AE-C93553901354}"/>
              </a:ext>
            </a:extLst>
          </p:cNvPr>
          <p:cNvSpPr/>
          <p:nvPr/>
        </p:nvSpPr>
        <p:spPr>
          <a:xfrm>
            <a:off x="7486529" y="1130491"/>
            <a:ext cx="875504" cy="635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FLAN T5 Large</a:t>
            </a:r>
            <a:endParaRPr lang="en-IN" sz="1400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288F8C9-B8D6-C231-B06A-ABE8930C6F54}"/>
              </a:ext>
            </a:extLst>
          </p:cNvPr>
          <p:cNvCxnSpPr>
            <a:cxnSpLocks/>
            <a:stCxn id="17" idx="2"/>
            <a:endCxn id="5" idx="0"/>
          </p:cNvCxnSpPr>
          <p:nvPr/>
        </p:nvCxnSpPr>
        <p:spPr>
          <a:xfrm rot="5400000">
            <a:off x="4714446" y="-68169"/>
            <a:ext cx="357280" cy="20838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92B249A-A637-70D1-2660-4355E7F60681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 rot="5400000">
            <a:off x="5754699" y="968746"/>
            <a:ext cx="353942" cy="66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0A146E0-CDEB-AB9B-3431-5464C9A99C3F}"/>
              </a:ext>
            </a:extLst>
          </p:cNvPr>
          <p:cNvCxnSpPr>
            <a:cxnSpLocks/>
            <a:stCxn id="17" idx="2"/>
            <a:endCxn id="10" idx="0"/>
          </p:cNvCxnSpPr>
          <p:nvPr/>
        </p:nvCxnSpPr>
        <p:spPr>
          <a:xfrm rot="16200000" flipH="1">
            <a:off x="6761953" y="-31837"/>
            <a:ext cx="335380" cy="19892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8B91B88-3CA8-E963-C6EC-4E4827EE9268}"/>
              </a:ext>
            </a:extLst>
          </p:cNvPr>
          <p:cNvSpPr txBox="1"/>
          <p:nvPr/>
        </p:nvSpPr>
        <p:spPr>
          <a:xfrm>
            <a:off x="3142354" y="1976818"/>
            <a:ext cx="1412566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pred_gpt2.json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BB70FA-BD1B-F647-E46B-DD78FB20F382}"/>
              </a:ext>
            </a:extLst>
          </p:cNvPr>
          <p:cNvSpPr txBox="1"/>
          <p:nvPr/>
        </p:nvSpPr>
        <p:spPr>
          <a:xfrm>
            <a:off x="5138301" y="2027516"/>
            <a:ext cx="1550424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pred_flan_s.json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3BD345-08A1-D52C-7037-660B507D76E8}"/>
              </a:ext>
            </a:extLst>
          </p:cNvPr>
          <p:cNvSpPr txBox="1"/>
          <p:nvPr/>
        </p:nvSpPr>
        <p:spPr>
          <a:xfrm>
            <a:off x="7160290" y="2027516"/>
            <a:ext cx="1527982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pred_flan_l.json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F9F81B-D3EF-E69C-D724-26DFE6C7DE0C}"/>
              </a:ext>
            </a:extLst>
          </p:cNvPr>
          <p:cNvCxnSpPr>
            <a:cxnSpLocks/>
            <a:stCxn id="5" idx="2"/>
            <a:endCxn id="27" idx="0"/>
          </p:cNvCxnSpPr>
          <p:nvPr/>
        </p:nvCxnSpPr>
        <p:spPr>
          <a:xfrm flipH="1">
            <a:off x="3848637" y="1614056"/>
            <a:ext cx="2529" cy="362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152104-DC2A-36E9-E6CB-0E3AD6FFCE76}"/>
              </a:ext>
            </a:extLst>
          </p:cNvPr>
          <p:cNvCxnSpPr>
            <a:cxnSpLocks/>
            <a:stCxn id="8" idx="2"/>
            <a:endCxn id="28" idx="0"/>
          </p:cNvCxnSpPr>
          <p:nvPr/>
        </p:nvCxnSpPr>
        <p:spPr>
          <a:xfrm flipH="1">
            <a:off x="5913513" y="1784301"/>
            <a:ext cx="14821" cy="24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29CB64-D39C-0A51-6E81-3F6E9301F68D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>
            <a:off x="7924281" y="1765739"/>
            <a:ext cx="0" cy="26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DCBD2D1-562E-0909-1416-92767C453F0E}"/>
              </a:ext>
            </a:extLst>
          </p:cNvPr>
          <p:cNvSpPr txBox="1"/>
          <p:nvPr/>
        </p:nvSpPr>
        <p:spPr>
          <a:xfrm>
            <a:off x="1555634" y="3370378"/>
            <a:ext cx="2191626" cy="46166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pred_gpt2.json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65DD6-79BD-A2AF-DC4C-A8D4A305F4E8}"/>
              </a:ext>
            </a:extLst>
          </p:cNvPr>
          <p:cNvSpPr txBox="1"/>
          <p:nvPr/>
        </p:nvSpPr>
        <p:spPr>
          <a:xfrm>
            <a:off x="1555634" y="4510611"/>
            <a:ext cx="2226892" cy="46166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pred_flan_s.json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24E44-2021-4C04-B5AE-77A5FF61611D}"/>
              </a:ext>
            </a:extLst>
          </p:cNvPr>
          <p:cNvSpPr txBox="1"/>
          <p:nvPr/>
        </p:nvSpPr>
        <p:spPr>
          <a:xfrm>
            <a:off x="1555634" y="5650846"/>
            <a:ext cx="2191626" cy="46166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pred_flan_l.json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7FE791-9706-3117-77DF-B78CCD3B0ABA}"/>
              </a:ext>
            </a:extLst>
          </p:cNvPr>
          <p:cNvSpPr txBox="1"/>
          <p:nvPr/>
        </p:nvSpPr>
        <p:spPr>
          <a:xfrm>
            <a:off x="4921312" y="4510610"/>
            <a:ext cx="2260555" cy="461665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benchmarks.json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CEE1A8-2EC1-25B2-07DE-A6DAB4487C2A}"/>
              </a:ext>
            </a:extLst>
          </p:cNvPr>
          <p:cNvSpPr txBox="1"/>
          <p:nvPr/>
        </p:nvSpPr>
        <p:spPr>
          <a:xfrm>
            <a:off x="1386617" y="3190405"/>
            <a:ext cx="2625213" cy="3077497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014CB4-154B-757C-91C9-D1B9E812DF82}"/>
              </a:ext>
            </a:extLst>
          </p:cNvPr>
          <p:cNvSpPr txBox="1"/>
          <p:nvPr/>
        </p:nvSpPr>
        <p:spPr>
          <a:xfrm>
            <a:off x="4213137" y="4510610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31A2EA-E917-CB93-74FA-75C2CF1A5759}"/>
              </a:ext>
            </a:extLst>
          </p:cNvPr>
          <p:cNvSpPr txBox="1"/>
          <p:nvPr/>
        </p:nvSpPr>
        <p:spPr>
          <a:xfrm>
            <a:off x="7994749" y="3271683"/>
            <a:ext cx="1539204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gpt2_report.json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F27237-E34F-00C9-D9E6-002A5AE27311}"/>
              </a:ext>
            </a:extLst>
          </p:cNvPr>
          <p:cNvSpPr txBox="1"/>
          <p:nvPr/>
        </p:nvSpPr>
        <p:spPr>
          <a:xfrm>
            <a:off x="7929768" y="4560847"/>
            <a:ext cx="1677062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flan_s_report.json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58311-FAB7-EE60-0848-4A159E8C17EA}"/>
              </a:ext>
            </a:extLst>
          </p:cNvPr>
          <p:cNvSpPr txBox="1"/>
          <p:nvPr/>
        </p:nvSpPr>
        <p:spPr>
          <a:xfrm>
            <a:off x="7937041" y="5708889"/>
            <a:ext cx="1654620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flan_l_report.json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ED3BE22-C610-40BF-4706-CF06DDAEB5BF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7181867" y="3440960"/>
            <a:ext cx="812882" cy="1300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7AAD98D-7A08-C445-0A55-FA0C8551CD88}"/>
              </a:ext>
            </a:extLst>
          </p:cNvPr>
          <p:cNvCxnSpPr>
            <a:stCxn id="7" idx="3"/>
            <a:endCxn id="13" idx="1"/>
          </p:cNvCxnSpPr>
          <p:nvPr/>
        </p:nvCxnSpPr>
        <p:spPr>
          <a:xfrm flipV="1">
            <a:off x="7181867" y="4730124"/>
            <a:ext cx="747901" cy="113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19B12CC-0789-6A61-2A30-CB2FE04E8E01}"/>
              </a:ext>
            </a:extLst>
          </p:cNvPr>
          <p:cNvCxnSpPr>
            <a:stCxn id="7" idx="3"/>
            <a:endCxn id="15" idx="1"/>
          </p:cNvCxnSpPr>
          <p:nvPr/>
        </p:nvCxnSpPr>
        <p:spPr>
          <a:xfrm>
            <a:off x="7181867" y="4741443"/>
            <a:ext cx="755174" cy="11367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3A324D-130F-3016-8C1C-FA8CFF2ADDA3}"/>
              </a:ext>
            </a:extLst>
          </p:cNvPr>
          <p:cNvSpPr/>
          <p:nvPr/>
        </p:nvSpPr>
        <p:spPr>
          <a:xfrm>
            <a:off x="1081548" y="2851355"/>
            <a:ext cx="9144000" cy="367726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9BA32C-2DD0-50B1-F7FB-828023C77D0A}"/>
              </a:ext>
            </a:extLst>
          </p:cNvPr>
          <p:cNvSpPr txBox="1"/>
          <p:nvPr/>
        </p:nvSpPr>
        <p:spPr>
          <a:xfrm>
            <a:off x="9278207" y="1333772"/>
            <a:ext cx="2812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 Utilized Agentic AI Framework for predicted vs benchmarking comparison.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55F37F6-C01F-405B-DEEC-D46B6BF6FA07}"/>
              </a:ext>
            </a:extLst>
          </p:cNvPr>
          <p:cNvCxnSpPr>
            <a:stCxn id="22" idx="2"/>
            <a:endCxn id="21" idx="3"/>
          </p:cNvCxnSpPr>
          <p:nvPr/>
        </p:nvCxnSpPr>
        <p:spPr>
          <a:xfrm rot="5400000">
            <a:off x="9238442" y="3244209"/>
            <a:ext cx="2432885" cy="45867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78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1" grpId="0"/>
      <p:bldP spid="12" grpId="0" animBg="1"/>
      <p:bldP spid="13" grpId="0" animBg="1"/>
      <p:bldP spid="15" grpId="0" animBg="1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10DED-CD54-8E96-DABC-D12B47B6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0BD5A7-930B-AAC7-E411-8908D4CC88F8}"/>
              </a:ext>
            </a:extLst>
          </p:cNvPr>
          <p:cNvSpPr txBox="1"/>
          <p:nvPr/>
        </p:nvSpPr>
        <p:spPr>
          <a:xfrm>
            <a:off x="-314632" y="71837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Methodology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61FDB-4D3B-4101-3CCD-0E154FE804A9}"/>
              </a:ext>
            </a:extLst>
          </p:cNvPr>
          <p:cNvSpPr txBox="1"/>
          <p:nvPr/>
        </p:nvSpPr>
        <p:spPr>
          <a:xfrm>
            <a:off x="5063613" y="425779"/>
            <a:ext cx="1742785" cy="36933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benchmarks.json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129B7-B2E4-B24E-A350-0FCA72E68E34}"/>
              </a:ext>
            </a:extLst>
          </p:cNvPr>
          <p:cNvSpPr/>
          <p:nvPr/>
        </p:nvSpPr>
        <p:spPr>
          <a:xfrm>
            <a:off x="3381056" y="1152391"/>
            <a:ext cx="94022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GPT 2</a:t>
            </a:r>
            <a:endParaRPr lang="en-I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159FB1-7E19-6605-4E31-416650FBDEF7}"/>
              </a:ext>
            </a:extLst>
          </p:cNvPr>
          <p:cNvSpPr/>
          <p:nvPr/>
        </p:nvSpPr>
        <p:spPr>
          <a:xfrm>
            <a:off x="5451552" y="1149053"/>
            <a:ext cx="953564" cy="635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FLAN T5 Small</a:t>
            </a:r>
            <a:endParaRPr lang="en-I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C8D71C-D988-0343-B864-325E62A909F2}"/>
              </a:ext>
            </a:extLst>
          </p:cNvPr>
          <p:cNvSpPr/>
          <p:nvPr/>
        </p:nvSpPr>
        <p:spPr>
          <a:xfrm>
            <a:off x="7486529" y="1130491"/>
            <a:ext cx="875504" cy="635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FLAN T5 Large</a:t>
            </a:r>
            <a:endParaRPr lang="en-IN" sz="1400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AA4151E-DA3C-CC6C-F778-0B617D75AD5C}"/>
              </a:ext>
            </a:extLst>
          </p:cNvPr>
          <p:cNvCxnSpPr>
            <a:cxnSpLocks/>
            <a:stCxn id="17" idx="2"/>
            <a:endCxn id="5" idx="0"/>
          </p:cNvCxnSpPr>
          <p:nvPr/>
        </p:nvCxnSpPr>
        <p:spPr>
          <a:xfrm rot="5400000">
            <a:off x="4714446" y="-68169"/>
            <a:ext cx="357280" cy="20838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DE9AE86-5483-46F5-F8D2-C92CC285D661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 rot="5400000">
            <a:off x="5754699" y="968746"/>
            <a:ext cx="353942" cy="66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1614BDB-69B8-9B49-F6B4-835125373A75}"/>
              </a:ext>
            </a:extLst>
          </p:cNvPr>
          <p:cNvCxnSpPr>
            <a:cxnSpLocks/>
            <a:stCxn id="17" idx="2"/>
            <a:endCxn id="10" idx="0"/>
          </p:cNvCxnSpPr>
          <p:nvPr/>
        </p:nvCxnSpPr>
        <p:spPr>
          <a:xfrm rot="16200000" flipH="1">
            <a:off x="6761953" y="-31837"/>
            <a:ext cx="335380" cy="19892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A6DDDA5-714A-C5D1-8287-E6D6C64195BE}"/>
              </a:ext>
            </a:extLst>
          </p:cNvPr>
          <p:cNvSpPr txBox="1"/>
          <p:nvPr/>
        </p:nvSpPr>
        <p:spPr>
          <a:xfrm>
            <a:off x="3142354" y="1976818"/>
            <a:ext cx="1412566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pred_gpt2.json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128910-3FF3-C360-D3A3-64E37F8F80F9}"/>
              </a:ext>
            </a:extLst>
          </p:cNvPr>
          <p:cNvSpPr txBox="1"/>
          <p:nvPr/>
        </p:nvSpPr>
        <p:spPr>
          <a:xfrm>
            <a:off x="5138301" y="2027516"/>
            <a:ext cx="1550424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pred_flan_s.json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0A566F-235E-6678-EC8F-179978321AB8}"/>
              </a:ext>
            </a:extLst>
          </p:cNvPr>
          <p:cNvSpPr txBox="1"/>
          <p:nvPr/>
        </p:nvSpPr>
        <p:spPr>
          <a:xfrm>
            <a:off x="7160290" y="2027516"/>
            <a:ext cx="1527982" cy="3385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pred_flan_l.json</a:t>
            </a:r>
            <a:endParaRPr lang="en-IN" sz="16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3A5574-B867-B81C-09D2-126FD5FB71FC}"/>
              </a:ext>
            </a:extLst>
          </p:cNvPr>
          <p:cNvCxnSpPr>
            <a:cxnSpLocks/>
            <a:stCxn id="5" idx="2"/>
            <a:endCxn id="27" idx="0"/>
          </p:cNvCxnSpPr>
          <p:nvPr/>
        </p:nvCxnSpPr>
        <p:spPr>
          <a:xfrm flipH="1">
            <a:off x="3848637" y="1614056"/>
            <a:ext cx="2529" cy="362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EBB0734-E7CB-9000-1131-9C2FE181B6CA}"/>
              </a:ext>
            </a:extLst>
          </p:cNvPr>
          <p:cNvCxnSpPr>
            <a:cxnSpLocks/>
            <a:stCxn id="8" idx="2"/>
            <a:endCxn id="28" idx="0"/>
          </p:cNvCxnSpPr>
          <p:nvPr/>
        </p:nvCxnSpPr>
        <p:spPr>
          <a:xfrm flipH="1">
            <a:off x="5913513" y="1784301"/>
            <a:ext cx="14821" cy="24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F46C247-206B-0E31-5E46-7A6915467A54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>
            <a:off x="7924281" y="1765739"/>
            <a:ext cx="0" cy="26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DCC7A0-84C3-38B5-754C-59FA03AC8A46}"/>
              </a:ext>
            </a:extLst>
          </p:cNvPr>
          <p:cNvSpPr txBox="1"/>
          <p:nvPr/>
        </p:nvSpPr>
        <p:spPr>
          <a:xfrm>
            <a:off x="810496" y="3371348"/>
            <a:ext cx="1726227" cy="40011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pred_gpt2.json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AC5B7-9F8B-6789-C799-8DE2633D70ED}"/>
              </a:ext>
            </a:extLst>
          </p:cNvPr>
          <p:cNvSpPr txBox="1"/>
          <p:nvPr/>
        </p:nvSpPr>
        <p:spPr>
          <a:xfrm>
            <a:off x="810496" y="4511581"/>
            <a:ext cx="1883849" cy="40011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pred_flan_s.json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68F5E-AF18-F87D-44B5-D29DE6B4E384}"/>
              </a:ext>
            </a:extLst>
          </p:cNvPr>
          <p:cNvSpPr txBox="1"/>
          <p:nvPr/>
        </p:nvSpPr>
        <p:spPr>
          <a:xfrm>
            <a:off x="810496" y="5651816"/>
            <a:ext cx="1854995" cy="40011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pred_flan_l.json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4A803-1321-B8A8-3390-6E43A83A7ADE}"/>
              </a:ext>
            </a:extLst>
          </p:cNvPr>
          <p:cNvSpPr txBox="1"/>
          <p:nvPr/>
        </p:nvSpPr>
        <p:spPr>
          <a:xfrm>
            <a:off x="3652958" y="4437736"/>
            <a:ext cx="2260555" cy="461665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benchmarks.json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1669E1-F2D6-62FE-F5A2-BDF894531853}"/>
              </a:ext>
            </a:extLst>
          </p:cNvPr>
          <p:cNvSpPr txBox="1"/>
          <p:nvPr/>
        </p:nvSpPr>
        <p:spPr>
          <a:xfrm>
            <a:off x="2944783" y="4437736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D3B105-82AF-37C4-1C9E-D50F7717ADBA}"/>
              </a:ext>
            </a:extLst>
          </p:cNvPr>
          <p:cNvSpPr/>
          <p:nvPr/>
        </p:nvSpPr>
        <p:spPr>
          <a:xfrm>
            <a:off x="389953" y="2852205"/>
            <a:ext cx="5706047" cy="367726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0FB0EE-B54C-0C3A-0EE1-AAC0805A0B9B}"/>
              </a:ext>
            </a:extLst>
          </p:cNvPr>
          <p:cNvSpPr txBox="1"/>
          <p:nvPr/>
        </p:nvSpPr>
        <p:spPr>
          <a:xfrm>
            <a:off x="629265" y="3285039"/>
            <a:ext cx="2177861" cy="2912807"/>
          </a:xfrm>
          <a:prstGeom prst="rect">
            <a:avLst/>
          </a:prstGeom>
          <a:solidFill>
            <a:schemeClr val="tx2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18C698-C15E-537C-1AA9-A4F3027D3509}"/>
              </a:ext>
            </a:extLst>
          </p:cNvPr>
          <p:cNvSpPr txBox="1"/>
          <p:nvPr/>
        </p:nvSpPr>
        <p:spPr>
          <a:xfrm>
            <a:off x="6763535" y="2747408"/>
            <a:ext cx="4967363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We created 4 agents to assess on 4 evaluation metrics: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HallucinationAgent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BiasAgent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ContextAgent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SafetyAgent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And the evaluation was done based on the rubrics that was given to the agent in system prompts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13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FC5E-2271-F17E-CCF0-DF263967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F22C60-6FDD-D24D-9C21-95DB1375B9B3}"/>
              </a:ext>
            </a:extLst>
          </p:cNvPr>
          <p:cNvSpPr txBox="1"/>
          <p:nvPr/>
        </p:nvSpPr>
        <p:spPr>
          <a:xfrm>
            <a:off x="-314632" y="71837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2DD37-0B04-8121-15C7-3756A1F559E4}"/>
              </a:ext>
            </a:extLst>
          </p:cNvPr>
          <p:cNvSpPr txBox="1"/>
          <p:nvPr/>
        </p:nvSpPr>
        <p:spPr>
          <a:xfrm>
            <a:off x="683346" y="879676"/>
            <a:ext cx="38542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"gpt2"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"hallucination"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3.57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"bias"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"safety"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"context"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97EEA-C600-D745-C4AD-A0D1DE83E41B}"/>
              </a:ext>
            </a:extLst>
          </p:cNvPr>
          <p:cNvSpPr txBox="1"/>
          <p:nvPr/>
        </p:nvSpPr>
        <p:spPr>
          <a:xfrm>
            <a:off x="4109886" y="872876"/>
            <a:ext cx="38542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"flan_t5_small"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"hallucination"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3.63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"bias"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"safety"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"context"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1.25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319EB-2FBF-73CB-4988-444186F462DC}"/>
              </a:ext>
            </a:extLst>
          </p:cNvPr>
          <p:cNvSpPr txBox="1"/>
          <p:nvPr/>
        </p:nvSpPr>
        <p:spPr>
          <a:xfrm>
            <a:off x="7659332" y="866076"/>
            <a:ext cx="39623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"flan_t5_small"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"hallucination"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3.63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"bias"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"safety"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"context"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1.25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3566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0A897-A3E7-4465-1C6D-A0EDAD41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679A7F-6D1C-8DAC-E540-29ED8889302B}"/>
              </a:ext>
            </a:extLst>
          </p:cNvPr>
          <p:cNvSpPr txBox="1"/>
          <p:nvPr/>
        </p:nvSpPr>
        <p:spPr>
          <a:xfrm>
            <a:off x="-314632" y="71837"/>
            <a:ext cx="10756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</a:t>
            </a:r>
            <a:endParaRPr lang="en-IN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FE157-F6E5-29BD-3B76-5E448E351E46}"/>
              </a:ext>
            </a:extLst>
          </p:cNvPr>
          <p:cNvSpPr txBox="1"/>
          <p:nvPr/>
        </p:nvSpPr>
        <p:spPr>
          <a:xfrm>
            <a:off x="349049" y="663412"/>
            <a:ext cx="385424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"gpt2"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"hallucination"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3.57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"bias"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"safety"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"context"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F2809-DB84-337F-8C90-794AF6619A08}"/>
              </a:ext>
            </a:extLst>
          </p:cNvPr>
          <p:cNvSpPr txBox="1"/>
          <p:nvPr/>
        </p:nvSpPr>
        <p:spPr>
          <a:xfrm>
            <a:off x="1936954" y="632054"/>
            <a:ext cx="385424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"flan_t5_small"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"hallucination"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3.63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"bias"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"safety"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"context"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1.25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68648-B7BD-D3C7-573F-11622BD19FB1}"/>
              </a:ext>
            </a:extLst>
          </p:cNvPr>
          <p:cNvSpPr txBox="1"/>
          <p:nvPr/>
        </p:nvSpPr>
        <p:spPr>
          <a:xfrm>
            <a:off x="3637935" y="632053"/>
            <a:ext cx="39623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"flan_t5_small"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"hallucination"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3.63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4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"bias"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"safety"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"context"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1.25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most_common</a:t>
            </a:r>
            <a:r>
              <a:rPr lang="en-IN" sz="1000" b="0" dirty="0">
                <a:solidFill>
                  <a:srgbClr val="82D2C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EBC88D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0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AutoShape 2" descr="Output image">
            <a:extLst>
              <a:ext uri="{FF2B5EF4-FFF2-40B4-BE49-F238E27FC236}">
                <a16:creationId xmlns:a16="http://schemas.microsoft.com/office/drawing/2014/main" id="{96EDDD82-3BBE-85E5-0F4B-6C0BFD94D9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4D01FD-5812-CDB5-5DE4-3CF6B7354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841736"/>
            <a:ext cx="5975354" cy="479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1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1187</Words>
  <Application>Microsoft Office PowerPoint</Application>
  <PresentationFormat>Widescreen</PresentationFormat>
  <Paragraphs>237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Times New Roman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 Rajanampalle</dc:creator>
  <cp:lastModifiedBy>Prem Rajanampalle</cp:lastModifiedBy>
  <cp:revision>4</cp:revision>
  <dcterms:created xsi:type="dcterms:W3CDTF">2026-02-23T13:50:47Z</dcterms:created>
  <dcterms:modified xsi:type="dcterms:W3CDTF">2026-02-24T01:12:41Z</dcterms:modified>
</cp:coreProperties>
</file>